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7" r:id="rId7"/>
    <p:sldId id="262" r:id="rId8"/>
    <p:sldId id="266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34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149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592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126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03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89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24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6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43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30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423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2504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38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13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059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661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16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4F3027B-90A7-48C5-BB76-C9AD8CA12F1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F12CD89-36F0-494C-B252-8DE370F72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727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7A10-F1B9-076C-3CB8-434B696D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900" dirty="0" smtClean="0"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Automated </a:t>
            </a:r>
            <a:r>
              <a:rPr lang="en-IN" sz="4900" dirty="0"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News Classification Using Machine </a:t>
            </a:r>
            <a:r>
              <a:rPr lang="en-IN" sz="4900" dirty="0" smtClean="0"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Learning</a:t>
            </a:r>
            <a:r>
              <a:rPr lang="en-IN" sz="4400" dirty="0" smtClean="0"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/>
            </a:r>
            <a:br>
              <a:rPr lang="en-IN" sz="4400" dirty="0" smtClean="0">
                <a:solidFill>
                  <a:schemeClr val="tx1"/>
                </a:solidFill>
                <a:effectLst/>
                <a:latin typeface="Algerian" panose="04020705040A02060702" pitchFamily="82" charset="0"/>
              </a:rPr>
            </a:br>
            <a:r>
              <a:rPr lang="en-IN" sz="4400" dirty="0"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/>
            </a:r>
            <a:br>
              <a:rPr lang="en-IN" sz="4400" dirty="0">
                <a:solidFill>
                  <a:schemeClr val="tx1"/>
                </a:solidFill>
                <a:effectLst/>
                <a:latin typeface="Algerian" panose="04020705040A02060702" pitchFamily="82" charset="0"/>
              </a:rPr>
            </a:br>
            <a:endParaRPr lang="en-IN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870E4-876F-3818-ABBF-1A8B72C67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37" y="2914022"/>
            <a:ext cx="11033091" cy="3175279"/>
          </a:xfrm>
        </p:spPr>
        <p:txBody>
          <a:bodyPr>
            <a:normAutofit/>
          </a:bodyPr>
          <a:lstStyle/>
          <a:p>
            <a:r>
              <a:rPr lang="en-US" sz="3600" dirty="0"/>
              <a:t>Guided by</a:t>
            </a:r>
            <a:r>
              <a:rPr lang="en-US" sz="3600" dirty="0" smtClean="0"/>
              <a:t>: </a:t>
            </a:r>
            <a:r>
              <a:rPr lang="en-US" sz="3600" dirty="0" err="1" smtClean="0">
                <a:solidFill>
                  <a:srgbClr val="FFC000"/>
                </a:solidFill>
              </a:rPr>
              <a:t>Dr.Afzal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>
                <a:solidFill>
                  <a:srgbClr val="FFC000"/>
                </a:solidFill>
              </a:rPr>
              <a:t>Hussian </a:t>
            </a:r>
            <a:r>
              <a:rPr lang="en-US" sz="3600" dirty="0" err="1">
                <a:solidFill>
                  <a:srgbClr val="FFC000"/>
                </a:solidFill>
              </a:rPr>
              <a:t>Shahid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endParaRPr lang="en-US" sz="3600" dirty="0" smtClean="0">
              <a:solidFill>
                <a:srgbClr val="FFC000"/>
              </a:solidFill>
            </a:endParaRPr>
          </a:p>
          <a:p>
            <a:endParaRPr lang="en-US" sz="3600" dirty="0">
              <a:solidFill>
                <a:srgbClr val="FFC000"/>
              </a:solidFill>
            </a:endParaRPr>
          </a:p>
          <a:p>
            <a:r>
              <a:rPr lang="en-US" sz="3600" dirty="0">
                <a:solidFill>
                  <a:srgbClr val="FFC000"/>
                </a:solidFill>
              </a:rPr>
              <a:t>                                            </a:t>
            </a:r>
            <a:r>
              <a:rPr lang="en-US" sz="3600" dirty="0" smtClean="0">
                <a:solidFill>
                  <a:srgbClr val="FFC000"/>
                </a:solidFill>
              </a:rPr>
              <a:t>   </a:t>
            </a:r>
            <a:r>
              <a:rPr lang="en-US" sz="3600" dirty="0" err="1" smtClean="0"/>
              <a:t>M.Jayasree</a:t>
            </a:r>
            <a:r>
              <a:rPr lang="en-US" sz="3600" dirty="0" smtClean="0"/>
              <a:t>: 23BCE9335</a:t>
            </a:r>
            <a:endParaRPr lang="en-US" sz="3600" dirty="0"/>
          </a:p>
          <a:p>
            <a:r>
              <a:rPr lang="en-US" sz="3600" dirty="0"/>
              <a:t>                                            </a:t>
            </a:r>
            <a:r>
              <a:rPr lang="en-US" sz="3600" dirty="0" smtClean="0"/>
              <a:t>     </a:t>
            </a:r>
            <a:r>
              <a:rPr lang="en-US" sz="3600" dirty="0" err="1" smtClean="0"/>
              <a:t>J.Manjiswari</a:t>
            </a:r>
            <a:r>
              <a:rPr lang="en-US" sz="3600" dirty="0" smtClean="0"/>
              <a:t>: 23BCE9340</a:t>
            </a:r>
            <a:endParaRPr lang="en-US" sz="3600" dirty="0"/>
          </a:p>
          <a:p>
            <a:endParaRPr lang="en-IN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36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259E69-DABE-3390-08FD-A7302E29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lgerian" panose="04020705040A02060702" pitchFamily="82" charset="0"/>
              </a:rPr>
              <a:t>Introduction</a:t>
            </a:r>
            <a:r>
              <a:rPr lang="en-IN" dirty="0">
                <a:effectLst/>
              </a:rPr>
              <a:t/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/>
            </a:r>
            <a:br>
              <a:rPr lang="en-IN" dirty="0">
                <a:effectLst/>
              </a:rPr>
            </a:br>
            <a:endParaRPr lang="en-IN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3FCD03-F917-C1DE-4CA4-E79A92125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09369"/>
            <a:ext cx="10353762" cy="458183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news is generated daily</a:t>
            </a:r>
            <a:endParaRPr lang="en-IN" sz="240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classification is difficult and time-consuming</a:t>
            </a:r>
            <a:endParaRPr lang="en-IN" sz="240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automation</a:t>
            </a:r>
            <a:endParaRPr lang="en-IN" sz="240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classify news automatically</a:t>
            </a:r>
            <a:endParaRPr lang="en-IN" sz="240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building an automated news classification system using TF-</a:t>
            </a:r>
            <a:r>
              <a:rPr lang="en-IN" sz="2400" b="1" dirty="0" err="1" smtClean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IDF,Naive</a:t>
            </a:r>
            <a:r>
              <a:rPr lang="en-IN" sz="2400" b="1" dirty="0" smtClean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Bayes and SVM</a:t>
            </a:r>
            <a:endParaRPr lang="en-IN" sz="240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496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3242-5D89-B452-6831-B36C07DC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lgerian" panose="04020705040A02060702" pitchFamily="82" charset="0"/>
              </a:rPr>
              <a:t>Objectives</a:t>
            </a:r>
            <a:r>
              <a:rPr lang="en-IN" dirty="0">
                <a:effectLst/>
              </a:rPr>
              <a:t/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5016-1305-1063-3861-92C32467F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news classification system using machine learning 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the 20 Newsgroups dataset for training and testing the model 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convert text data into numerical form using TF-IDF technique 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Naive Bayes and SVM algorithms for classification </a:t>
            </a:r>
            <a:r>
              <a:rPr lang="en-IN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IN" dirty="0">
                <a:effectLst/>
              </a:rPr>
              <a:t>               </a:t>
            </a:r>
            <a:r>
              <a:rPr lang="en-IN" sz="35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To evaluate model performance using: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</a:t>
            </a:r>
          </a:p>
          <a:p>
            <a:endParaRPr lang="en-IN" dirty="0"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0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E183-83F6-FABD-D98F-717B74C1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Models Used</a:t>
            </a:r>
            <a:endParaRPr lang="en-IN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A0E2-CB83-9C0A-D36D-FDF6E8C0B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52" y="1840937"/>
            <a:ext cx="10353762" cy="3554023"/>
          </a:xfrm>
        </p:spPr>
        <p:txBody>
          <a:bodyPr>
            <a:normAutofit lnSpcReduction="10000"/>
          </a:bodyPr>
          <a:lstStyle/>
          <a:p>
            <a:r>
              <a:rPr lang="en-IN" sz="30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 </a:t>
            </a:r>
            <a:r>
              <a:rPr lang="en-IN" sz="28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Methodology</a:t>
            </a:r>
            <a:r>
              <a:rPr lang="en-IN" sz="3200" dirty="0">
                <a:effectLst/>
              </a:rPr>
              <a:t> :</a:t>
            </a:r>
            <a:r>
              <a:rPr lang="en-IN" sz="28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Naive Bayes </a:t>
            </a:r>
            <a:r>
              <a:rPr lang="en-IN" sz="2800" dirty="0" smtClean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Model</a:t>
            </a:r>
          </a:p>
          <a:p>
            <a:endParaRPr lang="en-IN" sz="2800" dirty="0">
              <a:solidFill>
                <a:srgbClr val="0070C0"/>
              </a:solidFill>
              <a:effectLst/>
              <a:latin typeface="Algerian" panose="04020705040A02060702" pitchFamily="82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into training and testing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into TF-IDF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Multinomial Naïve Bayes model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categories for test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 and Classification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083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DACC-AEB5-40AB-F6CA-5EDBE205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95" y="159288"/>
            <a:ext cx="10035758" cy="10926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Models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21DE-C830-F7C5-D83E-04DA4EE92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139" y="999641"/>
            <a:ext cx="10252418" cy="4791559"/>
          </a:xfrm>
        </p:spPr>
        <p:txBody>
          <a:bodyPr>
            <a:normAutofit/>
          </a:bodyPr>
          <a:lstStyle/>
          <a:p>
            <a:endParaRPr lang="en-IN" sz="2800" dirty="0" smtClean="0">
              <a:solidFill>
                <a:srgbClr val="0070C0"/>
              </a:solidFill>
              <a:effectLst/>
              <a:latin typeface="Algerian" panose="04020705040A02060702" pitchFamily="82" charset="0"/>
            </a:endParaRPr>
          </a:p>
          <a:p>
            <a:r>
              <a:rPr lang="en-IN" sz="2800" dirty="0" smtClean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Methodology </a:t>
            </a:r>
            <a:r>
              <a:rPr lang="en-IN" sz="28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– </a:t>
            </a:r>
            <a:r>
              <a:rPr lang="en-IN" sz="2800" dirty="0" smtClean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SVM</a:t>
            </a:r>
          </a:p>
          <a:p>
            <a:endParaRPr lang="en-IN" sz="2800" dirty="0" smtClean="0">
              <a:solidFill>
                <a:srgbClr val="0070C0"/>
              </a:solidFill>
              <a:effectLst/>
              <a:latin typeface="Algerian" panose="04020705040A02060702" pitchFamily="82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into training and testing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into TF-IDF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Support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(SVM)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categories for test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accuracy,confusion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matrix and Classification Report</a:t>
            </a:r>
            <a:endParaRPr lang="en-IN" sz="2400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09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0" y="182880"/>
            <a:ext cx="5557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Dataset Overview</a:t>
            </a:r>
            <a:endParaRPr lang="en-IN" sz="4000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093076" y="1376951"/>
            <a:ext cx="708397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the 20 Newsgroups dataset with multiple news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text documents from topics like sports, politics, and science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 training and testing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sufficient data for model training and evaluation </a:t>
            </a:r>
          </a:p>
        </p:txBody>
      </p:sp>
    </p:spTree>
    <p:extLst>
      <p:ext uri="{BB962C8B-B14F-4D97-AF65-F5344CB8AC3E}">
        <p14:creationId xmlns:p14="http://schemas.microsoft.com/office/powerpoint/2010/main" val="243327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B621-AD0B-7C38-5B9F-9918BABB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Results</a:t>
            </a:r>
            <a:endParaRPr lang="en-IN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96C58DA-2758-DF72-C20B-50FD6E446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86" y="1480088"/>
            <a:ext cx="8992099" cy="404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0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33680"/>
            <a:ext cx="8138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solidFill>
                  <a:srgbClr val="0070C0"/>
                </a:solidFill>
                <a:latin typeface="Algerian" panose="04020705040A02060702" pitchFamily="82" charset="0"/>
              </a:rPr>
              <a:t>confusion</a:t>
            </a:r>
            <a:r>
              <a:rPr lang="en-IN" sz="2800" dirty="0" smtClean="0">
                <a:solidFill>
                  <a:srgbClr val="0070C0"/>
                </a:solidFill>
                <a:latin typeface="Algerian" panose="04020705040A02060702" pitchFamily="82" charset="0"/>
              </a:rPr>
              <a:t> </a:t>
            </a:r>
            <a:r>
              <a:rPr lang="en-IN" sz="2800" dirty="0" smtClean="0">
                <a:solidFill>
                  <a:srgbClr val="0070C0"/>
                </a:solidFill>
                <a:latin typeface="Algerian" panose="04020705040A02060702" pitchFamily="82" charset="0"/>
              </a:rPr>
              <a:t>Matrix: Naïve Bayes</a:t>
            </a:r>
            <a:endParaRPr lang="en-IN" sz="28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3" t="5472" r="15455" b="2418"/>
          <a:stretch/>
        </p:blipFill>
        <p:spPr>
          <a:xfrm>
            <a:off x="3911600" y="756900"/>
            <a:ext cx="4236720" cy="24466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274320" y="3340715"/>
            <a:ext cx="56743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solidFill>
                  <a:srgbClr val="0070C0"/>
                </a:solidFill>
                <a:latin typeface="Algerian" panose="04020705040A02060702" pitchFamily="82" charset="0"/>
              </a:rPr>
              <a:t>Confusion </a:t>
            </a:r>
            <a:r>
              <a:rPr lang="en-IN" sz="2800" dirty="0" smtClean="0">
                <a:solidFill>
                  <a:srgbClr val="0070C0"/>
                </a:solidFill>
                <a:latin typeface="Algerian" panose="04020705040A02060702" pitchFamily="82" charset="0"/>
              </a:rPr>
              <a:t>matrix: SVM</a:t>
            </a:r>
            <a:endParaRPr lang="en-IN" sz="2800" dirty="0">
              <a:solidFill>
                <a:srgbClr val="0070C0"/>
              </a:solidFill>
              <a:latin typeface="Algerian" panose="04020705040A02060702" pitchFamily="82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6" t="6156" r="15096" b="2412"/>
          <a:stretch/>
        </p:blipFill>
        <p:spPr>
          <a:xfrm>
            <a:off x="3800082" y="3921760"/>
            <a:ext cx="4459755" cy="254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2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8B99-5175-8FF6-4DA8-C43848C3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Advantages</a:t>
            </a:r>
            <a:endParaRPr lang="en-IN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5D402-5EB3-7585-F9DF-ABE94C2A1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2400" dirty="0">
                <a:solidFill>
                  <a:srgbClr val="0070C0"/>
                </a:solidFill>
                <a:latin typeface="Algerian" panose="04020705040A02060702" pitchFamily="82" charset="0"/>
              </a:rPr>
              <a:t>     Saves Time and Effort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classifies news articles, reducing manual work.</a:t>
            </a:r>
          </a:p>
          <a:p>
            <a:pPr marL="36900" indent="0">
              <a:buNone/>
            </a:pPr>
            <a:r>
              <a:rPr lang="en-US" sz="2400" dirty="0">
                <a:solidFill>
                  <a:srgbClr val="0070C0"/>
                </a:solidFill>
                <a:latin typeface="Algerian" panose="04020705040A02060702" pitchFamily="82" charset="0"/>
              </a:rPr>
              <a:t>     High Accuracy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like Naive Bayes and SVM provide reliable results.</a:t>
            </a:r>
          </a:p>
          <a:p>
            <a:pPr marL="36900" indent="0">
              <a:buNone/>
            </a:pPr>
            <a:r>
              <a:rPr lang="en-US" sz="2400" dirty="0">
                <a:solidFill>
                  <a:srgbClr val="0070C0"/>
                </a:solidFill>
                <a:latin typeface="Algerian" panose="04020705040A02060702" pitchFamily="82" charset="0"/>
              </a:rPr>
              <a:t>     Efficient Handling of Large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process and organize a huge number of news articles quickly.</a:t>
            </a:r>
          </a:p>
          <a:p>
            <a:pPr marL="36900" indent="0">
              <a:buNone/>
            </a:pPr>
            <a:r>
              <a:rPr lang="en-US" sz="2400" dirty="0">
                <a:solidFill>
                  <a:srgbClr val="0070C0"/>
                </a:solidFill>
                <a:latin typeface="Algerian" panose="04020705040A02060702" pitchFamily="82" charset="0"/>
              </a:rPr>
              <a:t>     Improves Organization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is neatly categorized into predefined classes.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433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2FCF-F372-E9C5-D684-D8FE6F47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Applications</a:t>
            </a:r>
            <a:endParaRPr lang="en-IN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775C8-987E-8D40-72D3-0133EDAF6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IN" sz="24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     News Websites &amp; Apps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categorize articles into topics like sports, politics, technology.</a:t>
            </a:r>
          </a:p>
          <a:p>
            <a:pPr marL="36900" indent="0">
              <a:buNone/>
            </a:pPr>
            <a:r>
              <a:rPr lang="en-IN" sz="24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     Search Engines</a:t>
            </a:r>
          </a:p>
          <a:p>
            <a:r>
              <a:rPr lang="en-IN" sz="2400" dirty="0">
                <a:effectLst/>
              </a:rPr>
              <a:t>Improves search results by organizing content into relevant categories.</a:t>
            </a:r>
          </a:p>
          <a:p>
            <a:pPr marL="36900" indent="0">
              <a:buNone/>
            </a:pPr>
            <a:r>
              <a:rPr lang="en-IN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      </a:t>
            </a:r>
            <a:r>
              <a:rPr lang="en-IN" sz="24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Content Recommendation Systems</a:t>
            </a:r>
          </a:p>
          <a:p>
            <a:r>
              <a:rPr lang="en-IN" sz="2400" dirty="0">
                <a:effectLst/>
              </a:rPr>
              <a:t>Suggests personalized news to users based on their interests.</a:t>
            </a:r>
          </a:p>
          <a:p>
            <a:pPr marL="36900" indent="0">
              <a:buNone/>
            </a:pPr>
            <a:r>
              <a:rPr lang="en-IN" sz="2400" dirty="0">
                <a:solidFill>
                  <a:srgbClr val="0070C0"/>
                </a:solidFill>
                <a:effectLst/>
                <a:latin typeface="Algerian" panose="04020705040A02060702" pitchFamily="82" charset="0"/>
              </a:rPr>
              <a:t>     Social Media Platforms</a:t>
            </a:r>
          </a:p>
          <a:p>
            <a:r>
              <a:rPr lang="en-IN" sz="2400" dirty="0">
                <a:effectLst/>
              </a:rPr>
              <a:t>Helps organize posts and trending topics efficiently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1695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FC8B-2DD5-49AD-E98A-D1E689F2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Conclusion</a:t>
            </a:r>
            <a:endParaRPr lang="en-IN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2DB06-BC72-1CE4-E3B9-3741EF74F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an automated news classification system using machine learning techniques.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data was effectively transformed into numerical features using TF-IDF, enabling accurate model training.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Naive Bayes and Support Vector Machine (SVM) algorithms were implemented and evaluated.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that SVM achieved higher accuracy and better overall performance compared to Naive Bayes</a:t>
            </a:r>
            <a:r>
              <a:rPr lang="en-IN" sz="2400" dirty="0">
                <a:effectLst/>
              </a:rPr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3442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8736" y="2530455"/>
            <a:ext cx="46145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85574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417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Aptos Black</vt:lpstr>
      <vt:lpstr>Calisto MT</vt:lpstr>
      <vt:lpstr>Times New Roman</vt:lpstr>
      <vt:lpstr>Trebuchet MS</vt:lpstr>
      <vt:lpstr>Wingdings 2</vt:lpstr>
      <vt:lpstr>Slate</vt:lpstr>
      <vt:lpstr>Automated News Classification Using Machine Learning  </vt:lpstr>
      <vt:lpstr>Introduction  </vt:lpstr>
      <vt:lpstr> Objectives </vt:lpstr>
      <vt:lpstr>Models Used</vt:lpstr>
      <vt:lpstr>Models Used</vt:lpstr>
      <vt:lpstr>PowerPoint Presentation</vt:lpstr>
      <vt:lpstr>Results</vt:lpstr>
      <vt:lpstr>PowerPoint Presentation</vt:lpstr>
      <vt:lpstr>Advantages</vt:lpstr>
      <vt:lpstr>Applications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Name: Automated News Classification Using Machine Learning</dc:title>
  <dc:creator>VITAP</dc:creator>
  <cp:lastModifiedBy>VITAP</cp:lastModifiedBy>
  <cp:revision>6</cp:revision>
  <dcterms:modified xsi:type="dcterms:W3CDTF">2026-04-23T06:49:12Z</dcterms:modified>
</cp:coreProperties>
</file>